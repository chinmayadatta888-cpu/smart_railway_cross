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ject" id="{D08D2496-EFB0-6D5C-BC37-36E26475E13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4142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fail-safe level-crossing controller on an Arduino Uno, simulated in Tinkercad using only parts that work the same in real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basic crossing only checks entry and exit flags. This one counts axles, predicts arrival and fails safe. Stress that it is a student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part simulated in Tinkercad is the same part you would use on a real breadboard.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diagram briefly: sensors on A0 and A1, road LEDs on D3 to D5, flashers on D6 and D7, buzzer on D8 through 220 ohms, servo on D9, button on D2.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470k bypass is what makes failures visible: idle reads a small non-zero value, a broken wire reads zero. Entry adds, exit subtracts, reopen only when balanced.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470k resistor keeps the idle reading above zero, so a broken wire (reading 0) can be told apart from an idle sensor.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Speed comes from the first two entry axles because their spacing is known. Entry-to-exit speed is only known after the train has passed, so it is only logged.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normal states plus FAULT and EMERGENCY reachable from anywhere. The road never jumps from green to red; it passes through yellow, even in an emergency.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for a slow train with a 1 s gap between the first two axles. A fast train skips the wait and starts warning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button uses a hardware interrupt so it is never missed. The second press means the operator confirms the crossing is clear, because the controller cannot know that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each idea exists in real railways. The novelty is combining them on a low-cost model with a fail-safe design, using only real parts.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in this order. Remember to release the sensor fully between presses.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four points, then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91440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731520" y="2468880"/>
            <a:ext cx="621792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5"/>
                </a:solidFill>
              </a:rPr>
              <a:t>Smart Railway Level-Crossing Safety Controller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914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Smart Railway Level-Crossing Safety Controller with Emergency Override</a:t>
            </a:r>
            <a:endParaRPr lang="en-US" sz="32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731520" y="2468880"/>
            <a:ext cx="6217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Arduino Uno • Tinkercad simulation • scale-model prototype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Presented by Team 1: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V Chinmaya Datta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N Jathin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Ch Sai Krishna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S Konda Reddy</a:t>
            </a:r>
            <a:endParaRPr lang="en-US" sz="1600" dirty="0"/>
          </a:p>
        </p:txBody>
      </p:sp>
      <p:sp>
        <p:nvSpPr>
          <p:cNvPr id="4" name="rail"/>
          <p:cNvSpPr/>
          <p:nvPr/>
        </p:nvSpPr>
        <p:spPr>
          <a:xfrm>
            <a:off x="457200" y="4590288"/>
            <a:ext cx="85039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5" name="rail"/>
          <p:cNvSpPr/>
          <p:nvPr/>
        </p:nvSpPr>
        <p:spPr>
          <a:xfrm>
            <a:off x="457200" y="4846320"/>
            <a:ext cx="85039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6" name="sleeper"/>
          <p:cNvSpPr/>
          <p:nvPr/>
        </p:nvSpPr>
        <p:spPr>
          <a:xfrm>
            <a:off x="548640" y="4544568"/>
            <a:ext cx="91440" cy="34747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7" name="sleeper"/>
          <p:cNvSpPr/>
          <p:nvPr/>
        </p:nvSpPr>
        <p:spPr>
          <a:xfrm>
            <a:off x="877824" y="4544568"/>
            <a:ext cx="91440" cy="34747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8" name="sleeper"/>
          <p:cNvSpPr/>
          <p:nvPr/>
        </p:nvSpPr>
        <p:spPr>
          <a:xfrm>
            <a:off x="1207008" y="4544568"/>
            <a:ext cx="91440" cy="34747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9" name="sleeper"/>
          <p:cNvSpPr/>
          <p:nvPr/>
        </p:nvSpPr>
        <p:spPr>
          <a:xfrm>
            <a:off x="1536192" y="4544568"/>
            <a:ext cx="91440" cy="34747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0" name="sleeper"/>
          <p:cNvSpPr/>
          <p:nvPr/>
        </p:nvSpPr>
        <p:spPr>
          <a:xfrm>
            <a:off x="1865376" y="4544568"/>
            <a:ext cx="91440" cy="34747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1" name="sleeper"/>
          <p:cNvSpPr/>
          <p:nvPr/>
        </p:nvSpPr>
        <p:spPr>
          <a:xfrm>
            <a:off x="2194560" y="4544568"/>
            <a:ext cx="91440" cy="34747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2" name="sleeper"/>
          <p:cNvSpPr/>
          <p:nvPr/>
        </p:nvSpPr>
        <p:spPr>
          <a:xfrm>
            <a:off x="2523744" y="4544568"/>
            <a:ext cx="91440" cy="34747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3" name="sleeper"/>
          <p:cNvSpPr/>
          <p:nvPr/>
        </p:nvSpPr>
        <p:spPr>
          <a:xfrm>
            <a:off x="2852928" y="4544568"/>
            <a:ext cx="91440" cy="34747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4" name="sleeper"/>
          <p:cNvSpPr/>
          <p:nvPr/>
        </p:nvSpPr>
        <p:spPr>
          <a:xfrm>
            <a:off x="3182112" y="4544568"/>
            <a:ext cx="91440" cy="34747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5" name="sleeper"/>
          <p:cNvSpPr/>
          <p:nvPr/>
        </p:nvSpPr>
        <p:spPr>
          <a:xfrm>
            <a:off x="3511296" y="4544568"/>
            <a:ext cx="91440" cy="34747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6" name="sleeper"/>
          <p:cNvSpPr/>
          <p:nvPr/>
        </p:nvSpPr>
        <p:spPr>
          <a:xfrm>
            <a:off x="3840480" y="4544568"/>
            <a:ext cx="91440" cy="34747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7" name="sleeper"/>
          <p:cNvSpPr/>
          <p:nvPr/>
        </p:nvSpPr>
        <p:spPr>
          <a:xfrm>
            <a:off x="4169664" y="4544568"/>
            <a:ext cx="91440" cy="34747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8" name="sleeper"/>
          <p:cNvSpPr/>
          <p:nvPr/>
        </p:nvSpPr>
        <p:spPr>
          <a:xfrm>
            <a:off x="4498848" y="4544568"/>
            <a:ext cx="91440" cy="34747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9" name="sleeper"/>
          <p:cNvSpPr/>
          <p:nvPr/>
        </p:nvSpPr>
        <p:spPr>
          <a:xfrm>
            <a:off x="4828032" y="4544568"/>
            <a:ext cx="91440" cy="34747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0" name="sleeper"/>
          <p:cNvSpPr/>
          <p:nvPr/>
        </p:nvSpPr>
        <p:spPr>
          <a:xfrm>
            <a:off x="5157216" y="4544568"/>
            <a:ext cx="91440" cy="34747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1" name="sleeper"/>
          <p:cNvSpPr/>
          <p:nvPr/>
        </p:nvSpPr>
        <p:spPr>
          <a:xfrm>
            <a:off x="5486400" y="4544568"/>
            <a:ext cx="91440" cy="34747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2" name="sleeper"/>
          <p:cNvSpPr/>
          <p:nvPr/>
        </p:nvSpPr>
        <p:spPr>
          <a:xfrm>
            <a:off x="5815584" y="4544568"/>
            <a:ext cx="91440" cy="34747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3" name="sleeper"/>
          <p:cNvSpPr/>
          <p:nvPr/>
        </p:nvSpPr>
        <p:spPr>
          <a:xfrm>
            <a:off x="6144768" y="4544568"/>
            <a:ext cx="91440" cy="34747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4" name="sleeper"/>
          <p:cNvSpPr/>
          <p:nvPr/>
        </p:nvSpPr>
        <p:spPr>
          <a:xfrm>
            <a:off x="6473952" y="4544568"/>
            <a:ext cx="91440" cy="34747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5" name="sleeper"/>
          <p:cNvSpPr/>
          <p:nvPr/>
        </p:nvSpPr>
        <p:spPr>
          <a:xfrm>
            <a:off x="6803136" y="4544568"/>
            <a:ext cx="91440" cy="34747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6" name="sleeper"/>
          <p:cNvSpPr/>
          <p:nvPr/>
        </p:nvSpPr>
        <p:spPr>
          <a:xfrm>
            <a:off x="7132320" y="4544568"/>
            <a:ext cx="91440" cy="34747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7" name="sleeper"/>
          <p:cNvSpPr/>
          <p:nvPr/>
        </p:nvSpPr>
        <p:spPr>
          <a:xfrm>
            <a:off x="7461504" y="4544568"/>
            <a:ext cx="91440" cy="34747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8" name="sleeper"/>
          <p:cNvSpPr/>
          <p:nvPr/>
        </p:nvSpPr>
        <p:spPr>
          <a:xfrm>
            <a:off x="7790688" y="4544568"/>
            <a:ext cx="91440" cy="34747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9" name="sleeper"/>
          <p:cNvSpPr/>
          <p:nvPr/>
        </p:nvSpPr>
        <p:spPr>
          <a:xfrm>
            <a:off x="8119872" y="4544568"/>
            <a:ext cx="91440" cy="34747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30" name="sleeper"/>
          <p:cNvSpPr/>
          <p:nvPr/>
        </p:nvSpPr>
        <p:spPr>
          <a:xfrm>
            <a:off x="8449056" y="4544568"/>
            <a:ext cx="91440" cy="34747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31" name="sleeper"/>
          <p:cNvSpPr/>
          <p:nvPr/>
        </p:nvSpPr>
        <p:spPr>
          <a:xfrm>
            <a:off x="8778240" y="4544568"/>
            <a:ext cx="91440" cy="34747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32" name="pole"/>
          <p:cNvSpPr/>
          <p:nvPr/>
        </p:nvSpPr>
        <p:spPr>
          <a:xfrm>
            <a:off x="8183880" y="2743200"/>
            <a:ext cx="64008" cy="178308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3" name="lamp"/>
          <p:cNvSpPr/>
          <p:nvPr/>
        </p:nvSpPr>
        <p:spPr>
          <a:xfrm>
            <a:off x="7927848" y="2743200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4" name="lamp"/>
          <p:cNvSpPr/>
          <p:nvPr/>
        </p:nvSpPr>
        <p:spPr>
          <a:xfrm>
            <a:off x="8257032" y="2743200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What the project is and why</a:t>
            </a:r>
            <a:endParaRPr lang="en-US" sz="2600" dirty="0"/>
          </a:p>
        </p:txBody>
      </p:sp>
      <p:sp>
        <p:nvSpPr>
          <p:cNvPr id="4" name="card"/>
          <p:cNvSpPr/>
          <p:nvPr/>
        </p:nvSpPr>
        <p:spPr>
          <a:xfrm>
            <a:off x="457200" y="1051560"/>
            <a:ext cx="8229600" cy="960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cardbar"/>
          <p:cNvSpPr/>
          <p:nvPr/>
        </p:nvSpPr>
        <p:spPr>
          <a:xfrm>
            <a:off x="457200" y="1051560"/>
            <a:ext cx="64008" cy="9601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14300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Basic crossing logic (entry sensor on, exit sensor off) breaks for long or paused trains, and a failed sensor looks exactly like 'no train'.</a:t>
            </a:r>
            <a:endParaRPr lang="en-US" sz="1250" dirty="0"/>
          </a:p>
        </p:txBody>
      </p:sp>
      <p:sp>
        <p:nvSpPr>
          <p:cNvPr id="8" name="card"/>
          <p:cNvSpPr/>
          <p:nvPr/>
        </p:nvSpPr>
        <p:spPr>
          <a:xfrm>
            <a:off x="457200" y="2103120"/>
            <a:ext cx="8229600" cy="960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cardbar"/>
          <p:cNvSpPr/>
          <p:nvPr/>
        </p:nvSpPr>
        <p:spPr>
          <a:xfrm>
            <a:off x="457200" y="2103120"/>
            <a:ext cx="64008" cy="9601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219456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The solution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5146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An Arduino-based controller that counts axles in and out, estimates train speed to time the warning, and goes to a safe state when anything is doubtful.</a:t>
            </a:r>
            <a:endParaRPr lang="en-US" sz="1250" dirty="0"/>
          </a:p>
        </p:txBody>
      </p:sp>
      <p:sp>
        <p:nvSpPr>
          <p:cNvPr id="12" name="card"/>
          <p:cNvSpPr/>
          <p:nvPr/>
        </p:nvSpPr>
        <p:spPr>
          <a:xfrm>
            <a:off x="457200" y="3154680"/>
            <a:ext cx="8229600" cy="960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cardbar"/>
          <p:cNvSpPr/>
          <p:nvPr/>
        </p:nvSpPr>
        <p:spPr>
          <a:xfrm>
            <a:off x="457200" y="3154680"/>
            <a:ext cx="64008" cy="9601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324612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What it controls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5661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Road signals (green, yellow, red), a servo barrier, flashing railway LEDs and a buzzer, plus an emergency override button.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Student prototype for a scale model, validated in simulation. It is not a certified railway safety system.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Components used</a:t>
            </a:r>
            <a:endParaRPr lang="en-US" sz="2600" dirty="0"/>
          </a:p>
        </p:txBody>
      </p:sp>
      <p:sp>
        <p:nvSpPr>
          <p:cNvPr id="4" name="card"/>
          <p:cNvSpPr/>
          <p:nvPr/>
        </p:nvSpPr>
        <p:spPr>
          <a:xfrm>
            <a:off x="457200" y="1051560"/>
            <a:ext cx="1920240" cy="1691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cardbar"/>
          <p:cNvSpPr/>
          <p:nvPr/>
        </p:nvSpPr>
        <p:spPr>
          <a:xfrm>
            <a:off x="457200" y="1051560"/>
            <a:ext cx="64008" cy="1691640"/>
          </a:xfrm>
          <a:prstGeom prst="rect">
            <a:avLst/>
          </a:prstGeom>
          <a:solidFill>
            <a:schemeClr val="accent4"/>
          </a:solidFill>
          <a:ln/>
        </p:spPr>
      </p:sp>
      <p:pic>
        <p:nvPicPr>
          <p:cNvPr id="6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61288"/>
            <a:ext cx="347472" cy="3474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15544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Arduino Uno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18745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The controller. Runs a non-blocking state machine.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2560320" y="1051560"/>
            <a:ext cx="1920240" cy="1691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cardbar"/>
          <p:cNvSpPr/>
          <p:nvPr/>
        </p:nvSpPr>
        <p:spPr>
          <a:xfrm>
            <a:off x="2560320" y="1051560"/>
            <a:ext cx="64008" cy="169164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161288"/>
            <a:ext cx="347472" cy="34747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743200" y="15544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2 force sensors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2743200" y="18745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Entry and exit axle detection (model track).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4663440" y="1051560"/>
            <a:ext cx="1920240" cy="1691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cardbar"/>
          <p:cNvSpPr/>
          <p:nvPr/>
        </p:nvSpPr>
        <p:spPr>
          <a:xfrm>
            <a:off x="4663440" y="1051560"/>
            <a:ext cx="64008" cy="1691640"/>
          </a:xfrm>
          <a:prstGeom prst="rect">
            <a:avLst/>
          </a:prstGeom>
          <a:solidFill>
            <a:schemeClr val="accent3"/>
          </a:solidFill>
          <a:ln/>
        </p:spPr>
      </p:sp>
      <p:pic>
        <p:nvPicPr>
          <p:cNvPr id="16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161288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846320" y="15544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Servo motor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4846320" y="18745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The barrier arm, moved smoothly 1° at a time.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6766560" y="1051560"/>
            <a:ext cx="1920240" cy="1691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cardbar"/>
          <p:cNvSpPr/>
          <p:nvPr/>
        </p:nvSpPr>
        <p:spPr>
          <a:xfrm>
            <a:off x="6766560" y="1051560"/>
            <a:ext cx="64008" cy="1691640"/>
          </a:xfrm>
          <a:prstGeom prst="rect">
            <a:avLst/>
          </a:prstGeom>
          <a:solidFill>
            <a:schemeClr val="accent3"/>
          </a:solidFill>
          <a:ln/>
        </p:spPr>
      </p:sp>
      <p:pic>
        <p:nvPicPr>
          <p:cNvPr id="21" name="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1161288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49440" y="15544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6 road LEDs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6949440" y="18745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Green, yellow, red on two approaches, sharing 3 pins.</a:t>
            </a:r>
            <a:endParaRPr lang="en-US" sz="1200" dirty="0"/>
          </a:p>
        </p:txBody>
      </p:sp>
      <p:sp>
        <p:nvSpPr>
          <p:cNvPr id="24" name="card"/>
          <p:cNvSpPr/>
          <p:nvPr/>
        </p:nvSpPr>
        <p:spPr>
          <a:xfrm>
            <a:off x="457200" y="2880360"/>
            <a:ext cx="1920240" cy="1691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cardbar"/>
          <p:cNvSpPr/>
          <p:nvPr/>
        </p:nvSpPr>
        <p:spPr>
          <a:xfrm>
            <a:off x="457200" y="2880360"/>
            <a:ext cx="64008" cy="1691640"/>
          </a:xfrm>
          <a:prstGeom prst="rect">
            <a:avLst/>
          </a:prstGeom>
          <a:solidFill>
            <a:schemeClr val="accent2"/>
          </a:solidFill>
          <a:ln/>
        </p:spPr>
      </p:sp>
      <p:pic>
        <p:nvPicPr>
          <p:cNvPr id="26" name="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2990088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40080" y="33832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2 railway LEDs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640080" y="37033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Red warning flashers that alternate.</a:t>
            </a:r>
            <a:endParaRPr lang="en-US" sz="1200" dirty="0"/>
          </a:p>
        </p:txBody>
      </p:sp>
      <p:sp>
        <p:nvSpPr>
          <p:cNvPr id="29" name="card"/>
          <p:cNvSpPr/>
          <p:nvPr/>
        </p:nvSpPr>
        <p:spPr>
          <a:xfrm>
            <a:off x="2560320" y="2880360"/>
            <a:ext cx="1920240" cy="1691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0" name="cardbar"/>
          <p:cNvSpPr/>
          <p:nvPr/>
        </p:nvSpPr>
        <p:spPr>
          <a:xfrm>
            <a:off x="2560320" y="2880360"/>
            <a:ext cx="64008" cy="1691640"/>
          </a:xfrm>
          <a:prstGeom prst="rect">
            <a:avLst/>
          </a:prstGeom>
          <a:solidFill>
            <a:schemeClr val="accent2"/>
          </a:solidFill>
          <a:ln/>
        </p:spPr>
      </p:sp>
      <p:pic>
        <p:nvPicPr>
          <p:cNvPr id="31" name="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0" y="2990088"/>
            <a:ext cx="347472" cy="34747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2743200" y="33832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Piezo buzzer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2743200" y="37033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Different patterns for warning, emergency, fault, stall.</a:t>
            </a:r>
            <a:endParaRPr lang="en-US" sz="1200" dirty="0"/>
          </a:p>
        </p:txBody>
      </p:sp>
      <p:sp>
        <p:nvSpPr>
          <p:cNvPr id="34" name="card"/>
          <p:cNvSpPr/>
          <p:nvPr/>
        </p:nvSpPr>
        <p:spPr>
          <a:xfrm>
            <a:off x="4663440" y="2880360"/>
            <a:ext cx="1920240" cy="1691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5" name="cardbar"/>
          <p:cNvSpPr/>
          <p:nvPr/>
        </p:nvSpPr>
        <p:spPr>
          <a:xfrm>
            <a:off x="4663440" y="2880360"/>
            <a:ext cx="64008" cy="1691640"/>
          </a:xfrm>
          <a:prstGeom prst="rect">
            <a:avLst/>
          </a:prstGeom>
          <a:solidFill>
            <a:schemeClr val="accent4"/>
          </a:solidFill>
          <a:ln/>
        </p:spPr>
      </p:sp>
      <p:pic>
        <p:nvPicPr>
          <p:cNvPr id="36" name="icon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2990088"/>
            <a:ext cx="347472" cy="347472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4846320" y="33832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Pushbutton</a:t>
            </a:r>
            <a:endParaRPr lang="en-US" sz="1300" dirty="0"/>
          </a:p>
        </p:txBody>
      </p:sp>
      <p:sp>
        <p:nvSpPr>
          <p:cNvPr id="38" name="Text 28"/>
          <p:cNvSpPr txBox="1"/>
          <p:nvPr/>
        </p:nvSpPr>
        <p:spPr>
          <a:xfrm>
            <a:off x="4846320" y="37033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Emergency override on a hardware interrupt (D2).</a:t>
            </a:r>
            <a:endParaRPr lang="en-US" sz="1200" dirty="0"/>
          </a:p>
        </p:txBody>
      </p:sp>
      <p:sp>
        <p:nvSpPr>
          <p:cNvPr id="39" name="card"/>
          <p:cNvSpPr/>
          <p:nvPr/>
        </p:nvSpPr>
        <p:spPr>
          <a:xfrm>
            <a:off x="6766560" y="2880360"/>
            <a:ext cx="1920240" cy="1691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0" name="cardbar"/>
          <p:cNvSpPr/>
          <p:nvPr/>
        </p:nvSpPr>
        <p:spPr>
          <a:xfrm>
            <a:off x="6766560" y="2880360"/>
            <a:ext cx="64008" cy="1691640"/>
          </a:xfrm>
          <a:prstGeom prst="rect">
            <a:avLst/>
          </a:prstGeom>
          <a:solidFill>
            <a:schemeClr val="accent5"/>
          </a:solidFill>
          <a:ln/>
        </p:spPr>
      </p:sp>
      <p:pic>
        <p:nvPicPr>
          <p:cNvPr id="41" name="icon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9440" y="2990088"/>
            <a:ext cx="347472" cy="347472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6949440" y="33832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Resistors, capacitor</a:t>
            </a:r>
            <a:endParaRPr lang="en-US" sz="1300" dirty="0"/>
          </a:p>
        </p:txBody>
      </p:sp>
      <p:sp>
        <p:nvSpPr>
          <p:cNvPr id="43" name="Text 32"/>
          <p:cNvSpPr txBox="1"/>
          <p:nvPr/>
        </p:nvSpPr>
        <p:spPr>
          <a:xfrm>
            <a:off x="6949440" y="37033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10k, 470k, 470 Ω, 330 Ω, 220 Ω; 470 µF across servo power.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Circuit built in Tinkercad</a:t>
            </a:r>
            <a:endParaRPr lang="en-US" sz="2600" dirty="0"/>
          </a:p>
        </p:txBody>
      </p:sp>
      <p:pic>
        <p:nvPicPr>
          <p:cNvPr id="4" name="Image 0" descr="/mnt/user-data/uploads/1792077987174_Screenshot_2026-10-15_2054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5394960" cy="2624328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051560"/>
          <a:ext cx="2651760" cy="91440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Pin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Connected to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</a:rPr>
                        <a:t>A0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</a:rPr>
                        <a:t>Entry force sensor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</a:rPr>
                        <a:t>A1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</a:rPr>
                        <a:t>Exit force sensor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</a:rPr>
                        <a:t>D2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</a:rPr>
                        <a:t>Emergency button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</a:rPr>
                        <a:t>D3 / D4 / D5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</a:rPr>
                        <a:t>Road green / yellow / red (2 LEDs each)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</a:rPr>
                        <a:t>D6 / D7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</a:rPr>
                        <a:t>Railway warning LEDs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</a:rPr>
                        <a:t>D8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</a:rPr>
                        <a:t>Buzzer via 220 Ω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</a:rPr>
                        <a:t>D9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</a:rPr>
                        <a:t>Servo (barrier)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cardbar"/>
          <p:cNvSpPr/>
          <p:nvPr/>
        </p:nvSpPr>
        <p:spPr>
          <a:xfrm>
            <a:off x="457200" y="3794760"/>
            <a:ext cx="64008" cy="82296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8" name="Text 3"/>
          <p:cNvSpPr txBox="1"/>
          <p:nvPr/>
        </p:nvSpPr>
        <p:spPr>
          <a:xfrm>
            <a:off x="640080" y="388620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Key details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640080" y="42062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Each sensor: FSR in parallel with 470 kΩ, 10 kΩ pull-down to GND. Road LEDs 470 Ω each, railway LEDs 330 Ω, 470 µF capacitor across the servo supply.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Sensing: axle counting</a:t>
            </a:r>
            <a:endParaRPr lang="en-US" sz="2600" dirty="0"/>
          </a:p>
        </p:txBody>
      </p:sp>
      <p:sp>
        <p:nvSpPr>
          <p:cNvPr id="4" name="stat"/>
          <p:cNvSpPr/>
          <p:nvPr/>
        </p:nvSpPr>
        <p:spPr>
          <a:xfrm>
            <a:off x="457200" y="1051560"/>
            <a:ext cx="2651760" cy="10515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0972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5"/>
                </a:solidFill>
              </a:rPr>
              <a:t>≈ 21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Idle reading (0.10 V)</a:t>
            </a:r>
            <a:endParaRPr lang="en-US" sz="1200" dirty="0"/>
          </a:p>
        </p:txBody>
      </p:sp>
      <p:sp>
        <p:nvSpPr>
          <p:cNvPr id="7" name="stat"/>
          <p:cNvSpPr/>
          <p:nvPr/>
        </p:nvSpPr>
        <p:spPr>
          <a:xfrm>
            <a:off x="3246120" y="1051560"/>
            <a:ext cx="2651760" cy="10515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46120" y="10972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3"/>
                </a:solidFill>
              </a:rPr>
              <a:t>300–900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324612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Pressed (axle)</a:t>
            </a:r>
            <a:endParaRPr lang="en-US" sz="1200" dirty="0"/>
          </a:p>
        </p:txBody>
      </p:sp>
      <p:sp>
        <p:nvSpPr>
          <p:cNvPr id="10" name="stat"/>
          <p:cNvSpPr/>
          <p:nvPr/>
        </p:nvSpPr>
        <p:spPr>
          <a:xfrm>
            <a:off x="6035040" y="1051560"/>
            <a:ext cx="2651760" cy="10515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35040" y="10972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2"/>
                </a:solidFill>
              </a:rPr>
              <a:t>0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03504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Broken wire = FAULT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457200" y="2286000"/>
            <a:ext cx="4023360" cy="22402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cardbar"/>
          <p:cNvSpPr/>
          <p:nvPr/>
        </p:nvSpPr>
        <p:spPr>
          <a:xfrm>
            <a:off x="457200" y="2286000"/>
            <a:ext cx="64008" cy="22402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0080" y="23774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Reading a press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269748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Counts as pressed above 300 and released below 150 (hysteresis). Edges closer than 40 ms are ignored (debounce). One press equals one axle, so holding a press never double counts.</a:t>
            </a:r>
            <a:endParaRPr lang="en-US" sz="1250" dirty="0"/>
          </a:p>
        </p:txBody>
      </p:sp>
      <p:sp>
        <p:nvSpPr>
          <p:cNvPr id="17" name="card"/>
          <p:cNvSpPr/>
          <p:nvPr/>
        </p:nvSpPr>
        <p:spPr>
          <a:xfrm>
            <a:off x="4663440" y="2286000"/>
            <a:ext cx="4023360" cy="22402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cardbar"/>
          <p:cNvSpPr/>
          <p:nvPr/>
        </p:nvSpPr>
        <p:spPr>
          <a:xfrm>
            <a:off x="4663440" y="2286000"/>
            <a:ext cx="64008" cy="22402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846320" y="23774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Counting axles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846320" y="269748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Entry sensor adds 1, exit sensor subtracts 1. The crossing reopens only when axles out ≥ axles in. This handles any train length and a train that pauses inside the section.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Inside one sensor: failures become visible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5 V</a:t>
            </a:r>
            <a:endParaRPr lang="en-US" sz="1200" dirty="0"/>
          </a:p>
        </p:txBody>
      </p:sp>
      <p:sp>
        <p:nvSpPr>
          <p:cNvPr id="5" name="wire"/>
          <p:cNvSpPr/>
          <p:nvPr/>
        </p:nvSpPr>
        <p:spPr>
          <a:xfrm>
            <a:off x="1005840" y="1371600"/>
            <a:ext cx="214884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6" name="wire"/>
          <p:cNvSpPr/>
          <p:nvPr/>
        </p:nvSpPr>
        <p:spPr>
          <a:xfrm>
            <a:off x="1691640" y="1371600"/>
            <a:ext cx="0" cy="27432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7" name="wire"/>
          <p:cNvSpPr/>
          <p:nvPr/>
        </p:nvSpPr>
        <p:spPr>
          <a:xfrm>
            <a:off x="3154680" y="1371600"/>
            <a:ext cx="0" cy="27432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8" name="part"/>
          <p:cNvSpPr/>
          <p:nvPr/>
        </p:nvSpPr>
        <p:spPr>
          <a:xfrm>
            <a:off x="1280160" y="1645920"/>
            <a:ext cx="822960" cy="45720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80160" y="1645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FSR</a:t>
            </a:r>
            <a:endParaRPr lang="en-US" sz="1200" dirty="0"/>
          </a:p>
        </p:txBody>
      </p:sp>
      <p:sp>
        <p:nvSpPr>
          <p:cNvPr id="10" name="part"/>
          <p:cNvSpPr/>
          <p:nvPr/>
        </p:nvSpPr>
        <p:spPr>
          <a:xfrm>
            <a:off x="2743200" y="1645920"/>
            <a:ext cx="822960" cy="45720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743200" y="1645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470 kΩ</a:t>
            </a:r>
            <a:endParaRPr lang="en-US" sz="1200" dirty="0"/>
          </a:p>
        </p:txBody>
      </p:sp>
      <p:sp>
        <p:nvSpPr>
          <p:cNvPr id="12" name="wire"/>
          <p:cNvSpPr/>
          <p:nvPr/>
        </p:nvSpPr>
        <p:spPr>
          <a:xfrm>
            <a:off x="1691640" y="2103120"/>
            <a:ext cx="0" cy="54864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3" name="wire"/>
          <p:cNvSpPr/>
          <p:nvPr/>
        </p:nvSpPr>
        <p:spPr>
          <a:xfrm>
            <a:off x="3154680" y="2103120"/>
            <a:ext cx="0" cy="54864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4" name="wire"/>
          <p:cNvSpPr/>
          <p:nvPr/>
        </p:nvSpPr>
        <p:spPr>
          <a:xfrm>
            <a:off x="1691640" y="2651760"/>
            <a:ext cx="25146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5" name="node"/>
          <p:cNvSpPr/>
          <p:nvPr/>
        </p:nvSpPr>
        <p:spPr>
          <a:xfrm>
            <a:off x="2350008" y="2578608"/>
            <a:ext cx="146304" cy="14630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566160" y="23042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to A0</a:t>
            </a:r>
            <a:endParaRPr lang="en-US" sz="1200" dirty="0"/>
          </a:p>
        </p:txBody>
      </p:sp>
      <p:sp>
        <p:nvSpPr>
          <p:cNvPr id="17" name="wire"/>
          <p:cNvSpPr/>
          <p:nvPr/>
        </p:nvSpPr>
        <p:spPr>
          <a:xfrm>
            <a:off x="2423160" y="2651760"/>
            <a:ext cx="0" cy="27432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8" name="part"/>
          <p:cNvSpPr/>
          <p:nvPr/>
        </p:nvSpPr>
        <p:spPr>
          <a:xfrm>
            <a:off x="2011680" y="2926080"/>
            <a:ext cx="822960" cy="45720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011680" y="2926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10 kΩ</a:t>
            </a:r>
            <a:endParaRPr lang="en-US" sz="1200" dirty="0"/>
          </a:p>
        </p:txBody>
      </p:sp>
      <p:sp>
        <p:nvSpPr>
          <p:cNvPr id="20" name="wire"/>
          <p:cNvSpPr/>
          <p:nvPr/>
        </p:nvSpPr>
        <p:spPr>
          <a:xfrm>
            <a:off x="2423160" y="3383280"/>
            <a:ext cx="0" cy="36576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148840" y="3749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GND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160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In real life the 470 kΩ is soldered at the sensor end, so a cut in either lead reads 0.</a:t>
            </a:r>
            <a:endParaRPr lang="en-US" sz="1100" dirty="0"/>
          </a:p>
        </p:txBody>
      </p:sp>
      <p:sp>
        <p:nvSpPr>
          <p:cNvPr id="23" name="card"/>
          <p:cNvSpPr/>
          <p:nvPr/>
        </p:nvSpPr>
        <p:spPr>
          <a:xfrm>
            <a:off x="4754880" y="1051560"/>
            <a:ext cx="3931920" cy="10515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cardbar"/>
          <p:cNvSpPr/>
          <p:nvPr/>
        </p:nvSpPr>
        <p:spPr>
          <a:xfrm>
            <a:off x="4754880" y="1051560"/>
            <a:ext cx="64008" cy="105156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937760" y="1143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Idle: reads about 21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937760" y="1463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Nothing pressed: 5 V × 10k ÷ (470k + 10k) ≈ 0.1 V.</a:t>
            </a:r>
            <a:endParaRPr lang="en-US" sz="1250" dirty="0"/>
          </a:p>
        </p:txBody>
      </p:sp>
      <p:sp>
        <p:nvSpPr>
          <p:cNvPr id="27" name="card"/>
          <p:cNvSpPr/>
          <p:nvPr/>
        </p:nvSpPr>
        <p:spPr>
          <a:xfrm>
            <a:off x="4754880" y="2194560"/>
            <a:ext cx="3931920" cy="10515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8" name="cardbar"/>
          <p:cNvSpPr/>
          <p:nvPr/>
        </p:nvSpPr>
        <p:spPr>
          <a:xfrm>
            <a:off x="4754880" y="2194560"/>
            <a:ext cx="64008" cy="105156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4937760" y="2286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Pressed: reads 300 to 900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4937760" y="2606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FSR resistance drops, so the voltage rises. Above 300 counts as an axle.</a:t>
            </a:r>
            <a:endParaRPr lang="en-US" sz="1250" dirty="0"/>
          </a:p>
        </p:txBody>
      </p:sp>
      <p:sp>
        <p:nvSpPr>
          <p:cNvPr id="31" name="card"/>
          <p:cNvSpPr/>
          <p:nvPr/>
        </p:nvSpPr>
        <p:spPr>
          <a:xfrm>
            <a:off x="4754880" y="3337560"/>
            <a:ext cx="3931920" cy="10515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2" name="cardbar"/>
          <p:cNvSpPr/>
          <p:nvPr/>
        </p:nvSpPr>
        <p:spPr>
          <a:xfrm>
            <a:off x="4754880" y="3337560"/>
            <a:ext cx="64008" cy="105156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937760" y="3429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Wire cut: reads 0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4937760" y="3749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The 10 kΩ pulls the node to 0 V. A reading of 0 means FAULT, not 'no train'.</a:t>
            </a:r>
            <a:endParaRPr lang="en-US" sz="125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Speed and constant warning time</a:t>
            </a:r>
            <a:endParaRPr lang="en-US" sz="2600" dirty="0"/>
          </a:p>
        </p:txBody>
      </p:sp>
      <p:sp>
        <p:nvSpPr>
          <p:cNvPr id="4" name="card"/>
          <p:cNvSpPr/>
          <p:nvPr/>
        </p:nvSpPr>
        <p:spPr>
          <a:xfrm>
            <a:off x="457200" y="1051560"/>
            <a:ext cx="4023360" cy="2148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cardbar"/>
          <p:cNvSpPr/>
          <p:nvPr/>
        </p:nvSpPr>
        <p:spPr>
          <a:xfrm>
            <a:off x="457200" y="1051560"/>
            <a:ext cx="64008" cy="214884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1430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How it is calculated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speed = axle spacing ÷ gap between axles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ETA = distance to crossing × gap ÷ spacing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warning starts at first axle + (ETA − 5 s)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Defaults: 60 mm spacing, 600 mm to crossing.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51560"/>
          <a:ext cx="4023360" cy="914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Axle gap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Speed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ETA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Warning starts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1000 ms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60 mm/s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10 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5 s after first axle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500 ms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120 mm/s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5 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Immediately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300 ms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200 mm/s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3 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Immediately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card"/>
          <p:cNvSpPr/>
          <p:nvPr/>
        </p:nvSpPr>
        <p:spPr>
          <a:xfrm>
            <a:off x="4663440" y="2514600"/>
            <a:ext cx="402336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cardbar"/>
          <p:cNvSpPr/>
          <p:nvPr/>
        </p:nvSpPr>
        <p:spPr>
          <a:xfrm>
            <a:off x="4663440" y="2514600"/>
            <a:ext cx="64008" cy="6858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846320" y="26060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Fail-safe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29260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No second axle within 1.5 s: warn anyway.</a:t>
            </a:r>
            <a:endParaRPr lang="en-US" sz="1250" dirty="0"/>
          </a:p>
        </p:txBody>
      </p:sp>
      <p:sp>
        <p:nvSpPr>
          <p:cNvPr id="13" name="card"/>
          <p:cNvSpPr/>
          <p:nvPr/>
        </p:nvSpPr>
        <p:spPr>
          <a:xfrm>
            <a:off x="457200" y="3383280"/>
            <a:ext cx="8229600" cy="1143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cardbar"/>
          <p:cNvSpPr/>
          <p:nvPr/>
        </p:nvSpPr>
        <p:spPr>
          <a:xfrm>
            <a:off x="457200" y="3383280"/>
            <a:ext cx="64008" cy="11430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40080" y="347472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Result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379476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Normal sequence: 2 s yellow plus 1.35 s of barrier travel, so the barrier is down about 1.65 s before a train that holds its speed arrives. Slow trains are held off; fast trains get a warning at once, with a shorter yellow and a faster barrier. ETA assumes constant speed.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State machine (non-blocking)</a:t>
            </a:r>
            <a:endParaRPr lang="en-US" sz="2600" dirty="0"/>
          </a:p>
        </p:txBody>
      </p:sp>
      <p:sp>
        <p:nvSpPr>
          <p:cNvPr id="4" name="state"/>
          <p:cNvSpPr/>
          <p:nvPr/>
        </p:nvSpPr>
        <p:spPr>
          <a:xfrm>
            <a:off x="457200" y="1097280"/>
            <a:ext cx="1783080" cy="82296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097280"/>
            <a:ext cx="17830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  CLEAR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</a:rPr>
              <a:t>Road green, barrier open</a:t>
            </a:r>
            <a:endParaRPr lang="en-US" sz="1300" dirty="0"/>
          </a:p>
        </p:txBody>
      </p:sp>
      <p:sp>
        <p:nvSpPr>
          <p:cNvPr id="6" name="arrow"/>
          <p:cNvSpPr/>
          <p:nvPr/>
        </p:nvSpPr>
        <p:spPr>
          <a:xfrm>
            <a:off x="2258568" y="1508760"/>
            <a:ext cx="329184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7" name="state"/>
          <p:cNvSpPr/>
          <p:nvPr/>
        </p:nvSpPr>
        <p:spPr>
          <a:xfrm>
            <a:off x="2606040" y="1097280"/>
            <a:ext cx="1783080" cy="82296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606040" y="1097280"/>
            <a:ext cx="17830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  APPROACH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</a:rPr>
              <a:t>Speed → ETA, hold-off</a:t>
            </a:r>
            <a:endParaRPr lang="en-US" sz="1300" dirty="0"/>
          </a:p>
        </p:txBody>
      </p:sp>
      <p:sp>
        <p:nvSpPr>
          <p:cNvPr id="9" name="arrow"/>
          <p:cNvSpPr/>
          <p:nvPr/>
        </p:nvSpPr>
        <p:spPr>
          <a:xfrm>
            <a:off x="4407408" y="1508760"/>
            <a:ext cx="329184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state"/>
          <p:cNvSpPr/>
          <p:nvPr/>
        </p:nvSpPr>
        <p:spPr>
          <a:xfrm>
            <a:off x="4754880" y="1097280"/>
            <a:ext cx="1783080" cy="8229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754880" y="1097280"/>
            <a:ext cx="17830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3  WARNING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Yellow 2 s + beep</a:t>
            </a:r>
            <a:endParaRPr lang="en-US" sz="1300" dirty="0"/>
          </a:p>
        </p:txBody>
      </p:sp>
      <p:sp>
        <p:nvSpPr>
          <p:cNvPr id="12" name="arrow"/>
          <p:cNvSpPr/>
          <p:nvPr/>
        </p:nvSpPr>
        <p:spPr>
          <a:xfrm>
            <a:off x="6556248" y="1508760"/>
            <a:ext cx="329184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state"/>
          <p:cNvSpPr/>
          <p:nvPr/>
        </p:nvSpPr>
        <p:spPr>
          <a:xfrm>
            <a:off x="6903720" y="1097280"/>
            <a:ext cx="1783080" cy="82296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903720" y="1097280"/>
            <a:ext cx="17830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  CLOSING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</a:rPr>
              <a:t>Red, barrier lowers</a:t>
            </a:r>
            <a:endParaRPr lang="en-US" sz="1300" dirty="0"/>
          </a:p>
        </p:txBody>
      </p:sp>
      <p:sp>
        <p:nvSpPr>
          <p:cNvPr id="15" name="state"/>
          <p:cNvSpPr/>
          <p:nvPr/>
        </p:nvSpPr>
        <p:spPr>
          <a:xfrm>
            <a:off x="457200" y="2286000"/>
            <a:ext cx="1783080" cy="82296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57200" y="2286000"/>
            <a:ext cx="17830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  OCCUPIED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</a:rPr>
              <a:t>Counting axles in/out</a:t>
            </a:r>
            <a:endParaRPr lang="en-US" sz="1300" dirty="0"/>
          </a:p>
        </p:txBody>
      </p:sp>
      <p:sp>
        <p:nvSpPr>
          <p:cNvPr id="17" name="arrow"/>
          <p:cNvSpPr/>
          <p:nvPr/>
        </p:nvSpPr>
        <p:spPr>
          <a:xfrm>
            <a:off x="2258568" y="2697480"/>
            <a:ext cx="329184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state"/>
          <p:cNvSpPr/>
          <p:nvPr/>
        </p:nvSpPr>
        <p:spPr>
          <a:xfrm>
            <a:off x="2606040" y="2286000"/>
            <a:ext cx="1783080" cy="82296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606040" y="2286000"/>
            <a:ext cx="17830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6  EXITING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</a:rPr>
              <a:t>Out ≥ in, 1.5 s quiet</a:t>
            </a:r>
            <a:endParaRPr lang="en-US" sz="1300" dirty="0"/>
          </a:p>
        </p:txBody>
      </p:sp>
      <p:sp>
        <p:nvSpPr>
          <p:cNvPr id="20" name="arrow"/>
          <p:cNvSpPr/>
          <p:nvPr/>
        </p:nvSpPr>
        <p:spPr>
          <a:xfrm>
            <a:off x="4407408" y="2697480"/>
            <a:ext cx="329184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state"/>
          <p:cNvSpPr/>
          <p:nvPr/>
        </p:nvSpPr>
        <p:spPr>
          <a:xfrm>
            <a:off x="4754880" y="2286000"/>
            <a:ext cx="1783080" cy="82296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754880" y="2286000"/>
            <a:ext cx="17830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7  CLEARING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</a:rPr>
              <a:t>Barrier lifts, road red</a:t>
            </a:r>
            <a:endParaRPr lang="en-US" sz="1300" dirty="0"/>
          </a:p>
        </p:txBody>
      </p:sp>
      <p:sp>
        <p:nvSpPr>
          <p:cNvPr id="23" name="arrow"/>
          <p:cNvSpPr/>
          <p:nvPr/>
        </p:nvSpPr>
        <p:spPr>
          <a:xfrm>
            <a:off x="6556248" y="2697480"/>
            <a:ext cx="329184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4" name="state"/>
          <p:cNvSpPr/>
          <p:nvPr/>
        </p:nvSpPr>
        <p:spPr>
          <a:xfrm>
            <a:off x="6903720" y="2286000"/>
            <a:ext cx="1783080" cy="82296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903720" y="2286000"/>
            <a:ext cx="17830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Back to 1  CLEAR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</a:rPr>
              <a:t>Road green again</a:t>
            </a:r>
            <a:endParaRPr lang="en-US" sz="1300" dirty="0"/>
          </a:p>
        </p:txBody>
      </p:sp>
      <p:sp>
        <p:nvSpPr>
          <p:cNvPr id="26" name="card"/>
          <p:cNvSpPr/>
          <p:nvPr/>
        </p:nvSpPr>
        <p:spPr>
          <a:xfrm>
            <a:off x="457200" y="3200400"/>
            <a:ext cx="8229600" cy="13258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cardbar"/>
          <p:cNvSpPr/>
          <p:nvPr/>
        </p:nvSpPr>
        <p:spPr>
          <a:xfrm>
            <a:off x="457200" y="3200400"/>
            <a:ext cx="64008" cy="13258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40080" y="329184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FAULT / EMERGENCY (from any state)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361188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Road goes red (via yellow if needed), barrier closes and stays closed, flashers run and the buzzer sounds. FAULT is a long low tone; EMERGENCY is a fast beep. An operator must press the button to reset.</a:t>
            </a:r>
            <a:endParaRPr lang="en-US" sz="125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One train, start to finish</a:t>
            </a:r>
            <a:endParaRPr lang="en-US" sz="2600" dirty="0"/>
          </a:p>
        </p:txBody>
      </p:sp>
      <p:sp>
        <p:nvSpPr>
          <p:cNvPr id="4" name="event"/>
          <p:cNvSpPr/>
          <p:nvPr/>
        </p:nvSpPr>
        <p:spPr>
          <a:xfrm>
            <a:off x="457200" y="1097280"/>
            <a:ext cx="1554480" cy="14173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097280"/>
            <a:ext cx="1554480" cy="1417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0 s</a:t>
            </a:r>
            <a:endParaRPr lang="en-US" sz="18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First entry axle detected</a:t>
            </a:r>
            <a:endParaRPr lang="en-US" sz="1800" dirty="0"/>
          </a:p>
        </p:txBody>
      </p:sp>
      <p:sp>
        <p:nvSpPr>
          <p:cNvPr id="6" name="event"/>
          <p:cNvSpPr/>
          <p:nvPr/>
        </p:nvSpPr>
        <p:spPr>
          <a:xfrm>
            <a:off x="2125980" y="1097280"/>
            <a:ext cx="1554480" cy="14173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125980" y="1097280"/>
            <a:ext cx="1554480" cy="1417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 s</a:t>
            </a:r>
            <a:endParaRPr lang="en-US" sz="18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Second axle: speed and ETA calculated</a:t>
            </a:r>
            <a:endParaRPr lang="en-US" sz="1800" dirty="0"/>
          </a:p>
        </p:txBody>
      </p:sp>
      <p:sp>
        <p:nvSpPr>
          <p:cNvPr id="8" name="event"/>
          <p:cNvSpPr/>
          <p:nvPr/>
        </p:nvSpPr>
        <p:spPr>
          <a:xfrm>
            <a:off x="3794760" y="1097280"/>
            <a:ext cx="1554480" cy="1417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794760" y="1097280"/>
            <a:ext cx="1554480" cy="1417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5 s</a:t>
            </a:r>
            <a:endParaRPr lang="en-US" sz="18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Warning: yellow, flashers, beep</a:t>
            </a:r>
            <a:endParaRPr lang="en-US" sz="1800" dirty="0"/>
          </a:p>
        </p:txBody>
      </p:sp>
      <p:sp>
        <p:nvSpPr>
          <p:cNvPr id="10" name="event"/>
          <p:cNvSpPr/>
          <p:nvPr/>
        </p:nvSpPr>
        <p:spPr>
          <a:xfrm>
            <a:off x="5463540" y="1097280"/>
            <a:ext cx="1554480" cy="14173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63540" y="1097280"/>
            <a:ext cx="1554480" cy="1417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7 s</a:t>
            </a:r>
            <a:endParaRPr lang="en-US" sz="18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Red; barrier starts lowering</a:t>
            </a:r>
            <a:endParaRPr lang="en-US" sz="1800" dirty="0"/>
          </a:p>
        </p:txBody>
      </p:sp>
      <p:sp>
        <p:nvSpPr>
          <p:cNvPr id="12" name="event"/>
          <p:cNvSpPr/>
          <p:nvPr/>
        </p:nvSpPr>
        <p:spPr>
          <a:xfrm>
            <a:off x="7132320" y="1097280"/>
            <a:ext cx="1554480" cy="14173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132320" y="1097280"/>
            <a:ext cx="1554480" cy="1417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≈ 8.4 s</a:t>
            </a:r>
            <a:endParaRPr lang="en-US" sz="18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Barrier closed, ~1.6 s before arrival</a:t>
            </a:r>
            <a:endParaRPr lang="en-US" sz="1800" dirty="0"/>
          </a:p>
        </p:txBody>
      </p:sp>
      <p:sp>
        <p:nvSpPr>
          <p:cNvPr id="14" name="event"/>
          <p:cNvSpPr/>
          <p:nvPr/>
        </p:nvSpPr>
        <p:spPr>
          <a:xfrm>
            <a:off x="457200" y="2697480"/>
            <a:ext cx="1554480" cy="14173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57200" y="2697480"/>
            <a:ext cx="1554480" cy="1417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10 s</a:t>
            </a:r>
            <a:endParaRPr lang="en-US" sz="18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Train reaches the crossing</a:t>
            </a:r>
            <a:endParaRPr lang="en-US" sz="1800" dirty="0"/>
          </a:p>
        </p:txBody>
      </p:sp>
      <p:sp>
        <p:nvSpPr>
          <p:cNvPr id="16" name="event"/>
          <p:cNvSpPr/>
          <p:nvPr/>
        </p:nvSpPr>
        <p:spPr>
          <a:xfrm>
            <a:off x="2125980" y="2697480"/>
            <a:ext cx="1554480" cy="14173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125980" y="2697480"/>
            <a:ext cx="1554480" cy="1417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Exit</a:t>
            </a:r>
            <a:endParaRPr lang="en-US" sz="18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Exit axles counted until out ≥ in</a:t>
            </a:r>
            <a:endParaRPr lang="en-US" sz="1800" dirty="0"/>
          </a:p>
        </p:txBody>
      </p:sp>
      <p:sp>
        <p:nvSpPr>
          <p:cNvPr id="18" name="event"/>
          <p:cNvSpPr/>
          <p:nvPr/>
        </p:nvSpPr>
        <p:spPr>
          <a:xfrm>
            <a:off x="3794760" y="2697480"/>
            <a:ext cx="1554480" cy="14173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794760" y="2697480"/>
            <a:ext cx="1554480" cy="1417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+ 1.5 s</a:t>
            </a:r>
            <a:endParaRPr lang="en-US" sz="18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Quiet period over: barrier lifts, road red</a:t>
            </a:r>
            <a:endParaRPr lang="en-US" sz="1800" dirty="0"/>
          </a:p>
        </p:txBody>
      </p:sp>
      <p:sp>
        <p:nvSpPr>
          <p:cNvPr id="20" name="event"/>
          <p:cNvSpPr/>
          <p:nvPr/>
        </p:nvSpPr>
        <p:spPr>
          <a:xfrm>
            <a:off x="5463540" y="2697480"/>
            <a:ext cx="1554480" cy="14173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463540" y="2697480"/>
            <a:ext cx="1554480" cy="1417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Done</a:t>
            </a:r>
            <a:endParaRPr lang="en-US" sz="18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Barrier up: road green, train log printed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7132320" y="2697480"/>
            <a:ext cx="1554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Times are measured from the first axle. Example: 60 mm axle spacing, 600 mm to the crossing.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Emergency override and fault handling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Trigger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How it is detected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Response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Emergency button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Interrupt on D2, 300 ms debounce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Yellow 2 s, then red, barrier closed, fast beep. Second press reopens.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Wire break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Reading below 3 for 300 ms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FAULT (latched)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Stuck sensor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Pressed for more than 30 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FAULT (latched)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Wrong order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Exit axle with nothing inside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FAULT (latched)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Stalled train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Occupied for more than 30 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Siren alarm, barrier stays closed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A FAULT clears only when the operator presses the button and both sensors read healthy.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Where the novelty comes from</a:t>
            </a:r>
            <a:endParaRPr lang="en-US" sz="2600" dirty="0"/>
          </a:p>
        </p:txBody>
      </p:sp>
      <p:sp>
        <p:nvSpPr>
          <p:cNvPr id="4" name="card"/>
          <p:cNvSpPr/>
          <p:nvPr/>
        </p:nvSpPr>
        <p:spPr>
          <a:xfrm>
            <a:off x="457200" y="1051560"/>
            <a:ext cx="2651760" cy="1645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cardbar"/>
          <p:cNvSpPr/>
          <p:nvPr/>
        </p:nvSpPr>
        <p:spPr>
          <a:xfrm>
            <a:off x="457200" y="1051560"/>
            <a:ext cx="64008" cy="16459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143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Axle counting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Replaces simple entry/exit flags, as real railways do.</a:t>
            </a:r>
            <a:endParaRPr lang="en-US" sz="1250" dirty="0"/>
          </a:p>
        </p:txBody>
      </p:sp>
      <p:sp>
        <p:nvSpPr>
          <p:cNvPr id="8" name="card"/>
          <p:cNvSpPr/>
          <p:nvPr/>
        </p:nvSpPr>
        <p:spPr>
          <a:xfrm>
            <a:off x="3246120" y="1051560"/>
            <a:ext cx="2651760" cy="1645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cardbar"/>
          <p:cNvSpPr/>
          <p:nvPr/>
        </p:nvSpPr>
        <p:spPr>
          <a:xfrm>
            <a:off x="3246120" y="1051560"/>
            <a:ext cx="64008" cy="1645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429000" y="1143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Constant warning time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146304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Speed-based timing, no extra hardware needed.</a:t>
            </a:r>
            <a:endParaRPr lang="en-US" sz="1250" dirty="0"/>
          </a:p>
        </p:txBody>
      </p:sp>
      <p:sp>
        <p:nvSpPr>
          <p:cNvPr id="12" name="card"/>
          <p:cNvSpPr/>
          <p:nvPr/>
        </p:nvSpPr>
        <p:spPr>
          <a:xfrm>
            <a:off x="6035040" y="1051560"/>
            <a:ext cx="2651760" cy="1645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cardbar"/>
          <p:cNvSpPr/>
          <p:nvPr/>
        </p:nvSpPr>
        <p:spPr>
          <a:xfrm>
            <a:off x="6035040" y="1051560"/>
            <a:ext cx="64008" cy="16459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217920" y="1143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Wiring-level fault detection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146304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One 470 kΩ resistor per sensor makes failures visible.</a:t>
            </a:r>
            <a:endParaRPr lang="en-US" sz="1250" dirty="0"/>
          </a:p>
        </p:txBody>
      </p:sp>
      <p:sp>
        <p:nvSpPr>
          <p:cNvPr id="16" name="card"/>
          <p:cNvSpPr/>
          <p:nvPr/>
        </p:nvSpPr>
        <p:spPr>
          <a:xfrm>
            <a:off x="457200" y="2834640"/>
            <a:ext cx="2651760" cy="1645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cardbar"/>
          <p:cNvSpPr/>
          <p:nvPr/>
        </p:nvSpPr>
        <p:spPr>
          <a:xfrm>
            <a:off x="457200" y="2834640"/>
            <a:ext cx="64008" cy="16459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" y="29260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Interrupt-driven override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324612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No delay() anywhere, so a press is never missed.</a:t>
            </a:r>
            <a:endParaRPr lang="en-US" sz="1250" dirty="0"/>
          </a:p>
        </p:txBody>
      </p:sp>
      <p:sp>
        <p:nvSpPr>
          <p:cNvPr id="20" name="card"/>
          <p:cNvSpPr/>
          <p:nvPr/>
        </p:nvSpPr>
        <p:spPr>
          <a:xfrm>
            <a:off x="3246120" y="2834640"/>
            <a:ext cx="2651760" cy="1645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cardbar"/>
          <p:cNvSpPr/>
          <p:nvPr/>
        </p:nvSpPr>
        <p:spPr>
          <a:xfrm>
            <a:off x="3246120" y="2834640"/>
            <a:ext cx="64008" cy="16459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429000" y="29260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Safe signal sequencing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3429000" y="324612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Yellow before red, road stays red until barrier is up.</a:t>
            </a:r>
            <a:endParaRPr lang="en-US" sz="1250" dirty="0"/>
          </a:p>
        </p:txBody>
      </p:sp>
      <p:sp>
        <p:nvSpPr>
          <p:cNvPr id="24" name="card"/>
          <p:cNvSpPr/>
          <p:nvPr/>
        </p:nvSpPr>
        <p:spPr>
          <a:xfrm>
            <a:off x="6035040" y="2834640"/>
            <a:ext cx="2651760" cy="1645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cardbar"/>
          <p:cNvSpPr/>
          <p:nvPr/>
        </p:nvSpPr>
        <p:spPr>
          <a:xfrm>
            <a:off x="6035040" y="2834640"/>
            <a:ext cx="64008" cy="164592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217920" y="29260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Same parts as real life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217920" y="324612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Nothing is simulator-only; Serial log gives per-train data.</a:t>
            </a:r>
            <a:endParaRPr lang="en-US" sz="125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How it is tested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Normal train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Entry twice about 1 s apart, then exit twice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Hold-off, yellow, red, barrier closes, then reopens; train log printed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Fast train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Entry twice about 0.3 s apart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Warning starts immediately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Single axle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Entry once and wait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Warning after 1.5 s (fail-safe)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Long train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Entry 4 times, exit 3 times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Stays OCCUPIED until the 4th exit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Emergency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Press button in any state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Yellow, red, barrier closed; second press reopens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Wrong order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Exit sensor first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FAULT; button acknowledges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Wire break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Disconnect the A0 wire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FAULT after about 0.3 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In Tinkercad a 'press' means dragging the sensor slider up, then back to 0.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Key takeaways</a:t>
            </a:r>
            <a:endParaRPr lang="en-US" sz="2600" dirty="0"/>
          </a:p>
        </p:txBody>
      </p:sp>
      <p:sp>
        <p:nvSpPr>
          <p:cNvPr id="4" name="card"/>
          <p:cNvSpPr/>
          <p:nvPr/>
        </p:nvSpPr>
        <p:spPr>
          <a:xfrm>
            <a:off x="457200" y="1051560"/>
            <a:ext cx="4023360" cy="13258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cardbar"/>
          <p:cNvSpPr/>
          <p:nvPr/>
        </p:nvSpPr>
        <p:spPr>
          <a:xfrm>
            <a:off x="457200" y="1051560"/>
            <a:ext cx="64008" cy="13258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1430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Safer logic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Axle counting replaces fragile entry/exit flags.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663440" y="1051560"/>
            <a:ext cx="4023360" cy="13258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cardbar"/>
          <p:cNvSpPr/>
          <p:nvPr/>
        </p:nvSpPr>
        <p:spPr>
          <a:xfrm>
            <a:off x="4663440" y="1051560"/>
            <a:ext cx="64008" cy="1325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846320" y="11430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Smarter timing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14630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Speed-based warning keeps the road blocked for less time.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457200" y="2514600"/>
            <a:ext cx="4023360" cy="13258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cardbar"/>
          <p:cNvSpPr/>
          <p:nvPr/>
        </p:nvSpPr>
        <p:spPr>
          <a:xfrm>
            <a:off x="457200" y="2514600"/>
            <a:ext cx="64008" cy="13258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26060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Fails safe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29260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Faults, stalls and emergencies all end in a red road and a closed barrier.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4663440" y="2514600"/>
            <a:ext cx="4023360" cy="13258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cardbar"/>
          <p:cNvSpPr/>
          <p:nvPr/>
        </p:nvSpPr>
        <p:spPr>
          <a:xfrm>
            <a:off x="4663440" y="2514600"/>
            <a:ext cx="64008" cy="132588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846320" y="26060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Built to be real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29260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Every simulated part works the same on a real breadboard.</a:t>
            </a:r>
            <a:endParaRPr lang="en-US" sz="1400" dirty="0"/>
          </a:p>
        </p:txBody>
      </p:sp>
      <p:sp>
        <p:nvSpPr>
          <p:cNvPr id="20" name="closing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Thank you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ilway">
  <a:themeElements>
    <a:clrScheme name="Railway">
      <a:dk1>
        <a:srgbClr val="1B2430"/>
      </a:dk1>
      <a:lt1>
        <a:srgbClr val="FFFFFF"/>
      </a:lt1>
      <a:dk2>
        <a:srgbClr val="0F2A43"/>
      </a:dk2>
      <a:lt2>
        <a:srgbClr val="F3F5F7"/>
      </a:lt2>
      <a:accent1>
        <a:srgbClr val="F2A900"/>
      </a:accent1>
      <a:accent2>
        <a:srgbClr val="D64545"/>
      </a:accent2>
      <a:accent3>
        <a:srgbClr val="2E9E6B"/>
      </a:accent3>
      <a:accent4>
        <a:srgbClr val="2B6CB0"/>
      </a:accent4>
      <a:accent5>
        <a:srgbClr val="6B7785"/>
      </a:accent5>
      <a:accent6>
        <a:srgbClr val="E1E7ED"/>
      </a:accent6>
      <a:hlink>
        <a:srgbClr val="2B6CB0"/>
      </a:hlink>
      <a:folHlink>
        <a:srgbClr val="6B7785"/>
      </a:folHlink>
    </a:clrScheme>
    <a:fontScheme name="Railwa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1675</Words>
  <Application>Microsoft Office PowerPoint</Application>
  <PresentationFormat>On-screen Show (16:9)</PresentationFormat>
  <Paragraphs>248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Railway</vt:lpstr>
      <vt:lpstr>Smart Railway Level-Crossing Safety Controller with Emergency Override</vt:lpstr>
      <vt:lpstr>What the project is and why</vt:lpstr>
      <vt:lpstr>Components used</vt:lpstr>
      <vt:lpstr>Circuit built in Tinkercad</vt:lpstr>
      <vt:lpstr>Sensing: axle counting</vt:lpstr>
      <vt:lpstr>Inside one sensor: failures become visible</vt:lpstr>
      <vt:lpstr>Speed and constant warning time</vt:lpstr>
      <vt:lpstr>State machine (non-blocking)</vt:lpstr>
      <vt:lpstr>One train, start to finish</vt:lpstr>
      <vt:lpstr>Emergency override and fault handling</vt:lpstr>
      <vt:lpstr>Where the novelty comes from</vt:lpstr>
      <vt:lpstr>How it is tested</vt:lpstr>
      <vt:lpstr>Key takeaways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Railway Level-Crossing Safety Controller</dc:title>
  <dc:subject>PptxGenJS Presentation</dc:subject>
  <dc:creator>PptxGenJS</dc:creator>
  <cp:lastModifiedBy>Chinmaya Datta vempati</cp:lastModifiedBy>
  <cp:revision>2</cp:revision>
  <dcterms:created xsi:type="dcterms:W3CDTF">2026-10-16T03:02:08Z</dcterms:created>
  <dcterms:modified xsi:type="dcterms:W3CDTF">2026-10-16T04:51:06Z</dcterms:modified>
</cp:coreProperties>
</file>